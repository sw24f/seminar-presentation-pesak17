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3" autoAdjust="0"/>
    <p:restoredTop sz="94694" autoAdjust="0"/>
  </p:normalViewPr>
  <p:slideViewPr>
    <p:cSldViewPr snapToGrid="0" snapToObjects="1">
      <p:cViewPr varScale="1">
        <p:scale>
          <a:sx n="93" d="100"/>
          <a:sy n="93" d="100"/>
        </p:scale>
        <p:origin x="520" y="56"/>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10/27/2024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10/27/2024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10/27/2024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10/27/2024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10/27/2024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10/27/2024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10/27/2024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10/27/2024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10/27/2024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10/27/2024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10/27/2024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41EB5C9-1307-BA42-ABA2-0BC069CD8E7F}" type="datetimeFigureOut">
              <a:rPr lang="en-US" smtClean="0"/>
              <a:t>10/27/2024</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342900" indent="-342900" algn="l" defTabSz="342900" rtl="0" eaLnBrk="1" latinLnBrk="0" hangingPunct="1">
        <a:spcBef>
          <a:spcPct val="20000"/>
        </a:spcBef>
        <a:buFont typeface="Arial"/>
        <a:buChar char="•"/>
        <a:defRPr sz="2400" kern="1200">
          <a:solidFill>
            <a:schemeClr val="tx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tx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tx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s://doi.org/10.7554/eLife.48175"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marL="0" lvl="0" indent="0">
              <a:buNone/>
            </a:pPr>
            <a:r>
              <a:rPr dirty="0"/>
              <a:t>Ten common statistical mistakes to watch out for when writing or reviewing a manuscript</a:t>
            </a:r>
          </a:p>
        </p:txBody>
      </p:sp>
      <p:sp>
        <p:nvSpPr>
          <p:cNvPr id="3" name="Subtitle 2"/>
          <p:cNvSpPr>
            <a:spLocks noGrp="1"/>
          </p:cNvSpPr>
          <p:nvPr>
            <p:ph type="subTitle" idx="1"/>
          </p:nvPr>
        </p:nvSpPr>
        <p:spPr>
          <a:xfrm>
            <a:off x="1371600" y="2914650"/>
            <a:ext cx="6400800" cy="1314450"/>
          </a:xfrm>
        </p:spPr>
        <p:txBody>
          <a:bodyPr/>
          <a:lstStyle/>
          <a:p>
            <a:pPr marL="0" lvl="0" indent="0">
              <a:buNone/>
            </a:pPr>
            <a:br/>
            <a:br/>
            <a:r>
              <a:t>Authors: Tamar R Makin and Jean-Jaques Orban De Xivry</a:t>
            </a:r>
          </a:p>
        </p:txBody>
      </p:sp>
      <p:sp>
        <p:nvSpPr>
          <p:cNvPr id="4" name="Date Placeholder 3"/>
          <p:cNvSpPr>
            <a:spLocks noGrp="1"/>
          </p:cNvSpPr>
          <p:nvPr>
            <p:ph type="dt" sz="half" idx="10"/>
          </p:nvPr>
        </p:nvSpPr>
        <p:spPr/>
        <p:txBody>
          <a:bodyPr/>
          <a:lstStyle/>
          <a:p>
            <a:pPr marL="0" lvl="0" indent="0">
              <a:buNone/>
            </a:pPr>
            <a:r>
              <a:t>2024-10-07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Abstract</a:t>
            </a:r>
          </a:p>
        </p:txBody>
      </p:sp>
      <p:sp>
        <p:nvSpPr>
          <p:cNvPr id="3" name="Content Placeholder 2"/>
          <p:cNvSpPr>
            <a:spLocks noGrp="1"/>
          </p:cNvSpPr>
          <p:nvPr>
            <p:ph idx="1"/>
          </p:nvPr>
        </p:nvSpPr>
        <p:spPr/>
        <p:txBody>
          <a:bodyPr/>
          <a:lstStyle/>
          <a:p>
            <a:pPr marL="0" lvl="0" indent="0">
              <a:buNone/>
            </a:pPr>
            <a:r>
              <a:rPr dirty="0"/>
              <a:t>In this presentation I will identify 10 of the most common mistakes found within statistical papers. For each mistake, I will state what the problem is, how we can detect it, and how we can avoid making these mistakes.</a:t>
            </a:r>
          </a:p>
          <a:p>
            <a:pPr marL="0" lvl="0" indent="0">
              <a:buNone/>
            </a:pPr>
            <a:r>
              <a:rPr b="1" dirty="0"/>
              <a:t>Goal:</a:t>
            </a:r>
            <a:r>
              <a:rPr dirty="0"/>
              <a:t> After this presentation you should be able to peer review papers efficiently and effectively.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About the Authors</a:t>
            </a:r>
          </a:p>
        </p:txBody>
      </p:sp>
      <p:sp>
        <p:nvSpPr>
          <p:cNvPr id="3" name="Content Placeholder 2"/>
          <p:cNvSpPr>
            <a:spLocks noGrp="1"/>
          </p:cNvSpPr>
          <p:nvPr>
            <p:ph idx="1"/>
          </p:nvPr>
        </p:nvSpPr>
        <p:spPr/>
        <p:txBody>
          <a:bodyPr/>
          <a:lstStyle/>
          <a:p>
            <a:pPr marL="0" lvl="0" indent="0">
              <a:buNone/>
            </a:pPr>
            <a:r>
              <a:rPr b="1" dirty="0"/>
              <a:t>Tamar Makin</a:t>
            </a:r>
            <a:r>
              <a:rPr dirty="0"/>
              <a:t>- Israeli neuroscientist who studied at Hebrew University of Jerusalem. She is currently a professor and researcher at the University of Cambridge.</a:t>
            </a:r>
          </a:p>
          <a:p>
            <a:pPr marL="0" lvl="0" indent="0">
              <a:buNone/>
            </a:pPr>
            <a:r>
              <a:rPr b="1" dirty="0"/>
              <a:t>Jean-Jacques </a:t>
            </a:r>
            <a:r>
              <a:rPr b="1" dirty="0" err="1"/>
              <a:t>Orban</a:t>
            </a:r>
            <a:r>
              <a:rPr b="1" dirty="0"/>
              <a:t> de </a:t>
            </a:r>
            <a:r>
              <a:rPr b="1" dirty="0" err="1"/>
              <a:t>Xivry</a:t>
            </a:r>
            <a:r>
              <a:rPr dirty="0"/>
              <a:t>- Engineer and neuroscientist who studied at Université </a:t>
            </a:r>
            <a:r>
              <a:rPr dirty="0" err="1"/>
              <a:t>catholique</a:t>
            </a:r>
            <a:r>
              <a:rPr dirty="0"/>
              <a:t> de Louvain (Belgium). He is currently a professor and researcher at KU Leuven.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1. Absence of an Adequate Control Condition/Group</a:t>
            </a:r>
          </a:p>
        </p:txBody>
      </p:sp>
      <p:sp>
        <p:nvSpPr>
          <p:cNvPr id="3" name="Content Placeholder 2"/>
          <p:cNvSpPr>
            <a:spLocks noGrp="1"/>
          </p:cNvSpPr>
          <p:nvPr>
            <p:ph idx="1"/>
          </p:nvPr>
        </p:nvSpPr>
        <p:spPr/>
        <p:txBody>
          <a:bodyPr/>
          <a:lstStyle/>
          <a:p>
            <a:pPr marL="0" lvl="0" indent="0">
              <a:buNone/>
            </a:pPr>
            <a:r>
              <a:rPr b="1" dirty="0"/>
              <a:t>Problem:</a:t>
            </a:r>
            <a:r>
              <a:rPr dirty="0"/>
              <a:t> Studies that look at the effect of an experimental manipulation on a variable over time should be compared to a control over time</a:t>
            </a:r>
          </a:p>
          <a:p>
            <a:pPr lvl="0"/>
            <a:r>
              <a:rPr dirty="0"/>
              <a:t>ex. An experimental group that runs 3 miles a day on muscle mass of calves’ vs a group that just walks 3 miles a day</a:t>
            </a:r>
          </a:p>
          <a:p>
            <a:pPr marL="0" lvl="0" indent="0">
              <a:buNone/>
            </a:pPr>
            <a:r>
              <a:rPr b="1" dirty="0"/>
              <a:t>Detection:</a:t>
            </a:r>
            <a:r>
              <a:rPr dirty="0"/>
              <a:t> Noticing that the control group does not account for key features of the task that are inherent to the manipulation</a:t>
            </a:r>
          </a:p>
          <a:p>
            <a:pPr lvl="0"/>
            <a:r>
              <a:rPr dirty="0"/>
              <a:t>ex. Having the experimental group be people aged 20-30 but the control people ages 40-50 (we can expect different muscle mass)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1. Absence of an Adequate Control Condition/Group</a:t>
            </a:r>
          </a:p>
        </p:txBody>
      </p:sp>
      <p:sp>
        <p:nvSpPr>
          <p:cNvPr id="3" name="Content Placeholder 2"/>
          <p:cNvSpPr>
            <a:spLocks noGrp="1"/>
          </p:cNvSpPr>
          <p:nvPr>
            <p:ph idx="1"/>
          </p:nvPr>
        </p:nvSpPr>
        <p:spPr/>
        <p:txBody>
          <a:bodyPr/>
          <a:lstStyle/>
          <a:p>
            <a:pPr marL="0" lvl="0" indent="0">
              <a:buNone/>
            </a:pPr>
            <a:r>
              <a:rPr b="1" dirty="0"/>
              <a:t>Solution:</a:t>
            </a:r>
            <a:r>
              <a:rPr dirty="0"/>
              <a:t> If you can’t separate the effect of time from the effect of intervention, then the conclusions for the intervention should be presented as “tentative”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2. Interpreting comparisons between two effects without directly comparing them</a:t>
            </a:r>
          </a:p>
        </p:txBody>
      </p:sp>
      <p:sp>
        <p:nvSpPr>
          <p:cNvPr id="3" name="Content Placeholder 2"/>
          <p:cNvSpPr>
            <a:spLocks noGrp="1"/>
          </p:cNvSpPr>
          <p:nvPr>
            <p:ph idx="1"/>
          </p:nvPr>
        </p:nvSpPr>
        <p:spPr/>
        <p:txBody>
          <a:bodyPr/>
          <a:lstStyle/>
          <a:p>
            <a:pPr marL="0" lvl="0" indent="0">
              <a:buNone/>
            </a:pPr>
            <a:r>
              <a:rPr b="1" dirty="0"/>
              <a:t>Problem:</a:t>
            </a:r>
            <a:r>
              <a:rPr dirty="0"/>
              <a:t> When the treatment in the experimental group shows a strong effect compared to the control group, we automatically assume that the treatment is working</a:t>
            </a:r>
          </a:p>
          <a:p>
            <a:pPr lvl="0"/>
            <a:r>
              <a:rPr dirty="0"/>
              <a:t>ex. The correlation between group a=0.4 and group b=0.45 while the p-value for a is &lt;0.05 and for group b is 0.08. Hence group A is statistically significant while B is not, but the correlation is moderate for both groups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2. Interpreting comparisons between two effects without directly comparing them</a:t>
            </a:r>
          </a:p>
        </p:txBody>
      </p:sp>
      <p:sp>
        <p:nvSpPr>
          <p:cNvPr id="3" name="Content Placeholder 2"/>
          <p:cNvSpPr>
            <a:spLocks noGrp="1"/>
          </p:cNvSpPr>
          <p:nvPr>
            <p:ph idx="1"/>
          </p:nvPr>
        </p:nvSpPr>
        <p:spPr/>
        <p:txBody>
          <a:bodyPr/>
          <a:lstStyle/>
          <a:p>
            <a:pPr marL="0" lvl="0" indent="0">
              <a:buNone/>
            </a:pPr>
            <a:r>
              <a:rPr b="1" dirty="0"/>
              <a:t>Detection:</a:t>
            </a:r>
            <a:r>
              <a:rPr dirty="0"/>
              <a:t> Can occur when a researcher “makes an inference without performing the necessary statistical analysis” (4 Makin and </a:t>
            </a:r>
            <a:r>
              <a:rPr dirty="0" err="1"/>
              <a:t>Orban</a:t>
            </a:r>
            <a:r>
              <a:rPr dirty="0"/>
              <a:t>)</a:t>
            </a:r>
          </a:p>
          <a:p>
            <a:pPr marL="0" lvl="0" indent="0">
              <a:buNone/>
            </a:pPr>
            <a:r>
              <a:rPr b="1" dirty="0"/>
              <a:t>Solution:</a:t>
            </a:r>
            <a:r>
              <a:rPr dirty="0"/>
              <a:t> Compare the groups directly.</a:t>
            </a:r>
          </a:p>
          <a:p>
            <a:pPr lvl="0"/>
            <a:r>
              <a:rPr dirty="0"/>
              <a:t>ANOVA can be useful for group comparisons</a:t>
            </a:r>
          </a:p>
          <a:p>
            <a:pPr lvl="0"/>
            <a:r>
              <a:rPr dirty="0"/>
              <a:t>Correlations in 2 groups can be compared to Monte Carlo simulations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3. Inflating the units of analysis</a:t>
            </a:r>
          </a:p>
        </p:txBody>
      </p:sp>
      <p:sp>
        <p:nvSpPr>
          <p:cNvPr id="3" name="Content Placeholder 2"/>
          <p:cNvSpPr>
            <a:spLocks noGrp="1"/>
          </p:cNvSpPr>
          <p:nvPr>
            <p:ph idx="1"/>
          </p:nvPr>
        </p:nvSpPr>
        <p:spPr/>
        <p:txBody>
          <a:bodyPr/>
          <a:lstStyle/>
          <a:p>
            <a:pPr marL="0" lvl="0" indent="0">
              <a:buNone/>
            </a:pPr>
            <a:r>
              <a:rPr b="1" dirty="0"/>
              <a:t>Problem:</a:t>
            </a:r>
            <a:r>
              <a:rPr dirty="0"/>
              <a:t> Experimental units get mixed up with the number of observations made</a:t>
            </a:r>
          </a:p>
          <a:p>
            <a:pPr marL="0" lvl="0" indent="0">
              <a:buNone/>
            </a:pPr>
            <a:r>
              <a:rPr b="1" dirty="0"/>
              <a:t>Definition of Experimental Unit</a:t>
            </a:r>
            <a:r>
              <a:rPr dirty="0"/>
              <a:t> is the number of independent values that are free to vary (number of subjects tested rather than number of observations made within each subject)</a:t>
            </a:r>
          </a:p>
          <a:p>
            <a:pPr lvl="0"/>
            <a:r>
              <a:rPr dirty="0"/>
              <a:t>ex. 1 person used for 3 observations (heart rate, height, and weight) only counts as 1 experimental unit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3. Inflating the units of analysis</a:t>
            </a:r>
          </a:p>
        </p:txBody>
      </p:sp>
      <p:sp>
        <p:nvSpPr>
          <p:cNvPr id="3" name="Content Placeholder 2"/>
          <p:cNvSpPr>
            <a:spLocks noGrp="1"/>
          </p:cNvSpPr>
          <p:nvPr>
            <p:ph idx="1"/>
          </p:nvPr>
        </p:nvSpPr>
        <p:spPr/>
        <p:txBody>
          <a:bodyPr/>
          <a:lstStyle/>
          <a:p>
            <a:pPr marL="0" lvl="0" indent="0">
              <a:buNone/>
            </a:pPr>
            <a:r>
              <a:rPr b="1" dirty="0"/>
              <a:t>Effect of problem:</a:t>
            </a:r>
            <a:r>
              <a:rPr dirty="0"/>
              <a:t> Results in a super high number of experimental units -&gt;</a:t>
            </a:r>
            <a:r>
              <a:rPr dirty="0" err="1"/>
              <a:t>df</a:t>
            </a:r>
            <a:r>
              <a:rPr dirty="0"/>
              <a:t> increases -&gt;threshold against statistical significance is judged decreases-&gt;easier to observe significant results-&gt; hence higher likelihood of false positive</a:t>
            </a:r>
          </a:p>
          <a:p>
            <a:pPr marL="0" lvl="0" indent="0">
              <a:buNone/>
            </a:pPr>
            <a:r>
              <a:rPr b="1" dirty="0"/>
              <a:t>Detection:</a:t>
            </a:r>
            <a:r>
              <a:rPr dirty="0"/>
              <a:t> Be careful in group analysis and make sure “the unit of analysis should reflect the variance across subjects, not within subjects.” (5 Makin and </a:t>
            </a:r>
            <a:r>
              <a:rPr dirty="0" err="1"/>
              <a:t>Orban</a:t>
            </a:r>
            <a:r>
              <a:rPr dirty="0"/>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3. Inflating the units of Analysis</a:t>
            </a:r>
          </a:p>
        </p:txBody>
      </p:sp>
      <p:sp>
        <p:nvSpPr>
          <p:cNvPr id="3" name="Content Placeholder 2"/>
          <p:cNvSpPr>
            <a:spLocks noGrp="1"/>
          </p:cNvSpPr>
          <p:nvPr>
            <p:ph idx="1"/>
          </p:nvPr>
        </p:nvSpPr>
        <p:spPr/>
        <p:txBody>
          <a:bodyPr/>
          <a:lstStyle/>
          <a:p>
            <a:pPr marL="0" lvl="0" indent="0">
              <a:buNone/>
            </a:pPr>
            <a:r>
              <a:rPr b="1" dirty="0"/>
              <a:t>Solutions:</a:t>
            </a:r>
          </a:p>
          <a:p>
            <a:pPr lvl="0"/>
            <a:r>
              <a:rPr dirty="0"/>
              <a:t>Use a mixed effects linear model which allows us to put all data into a model and not violate the assumption of independence (can be complicated and misused)</a:t>
            </a:r>
          </a:p>
          <a:p>
            <a:pPr lvl="0"/>
            <a:r>
              <a:rPr dirty="0"/>
              <a:t>A simple solution is to calculate r (correlation) for each observation separately</a:t>
            </a:r>
          </a:p>
          <a:p>
            <a:pPr lvl="0"/>
            <a:r>
              <a:rPr dirty="0"/>
              <a:t>Average values across observations</a:t>
            </a:r>
          </a:p>
          <a:p>
            <a:pPr lvl="0"/>
            <a:r>
              <a:rPr dirty="0"/>
              <a:t>Calculate pre/post correlations and average the r values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4. Spurious (illegitimate) Correlations</a:t>
            </a:r>
          </a:p>
        </p:txBody>
      </p:sp>
      <p:sp>
        <p:nvSpPr>
          <p:cNvPr id="3" name="Content Placeholder 2"/>
          <p:cNvSpPr>
            <a:spLocks noGrp="1"/>
          </p:cNvSpPr>
          <p:nvPr>
            <p:ph idx="1"/>
          </p:nvPr>
        </p:nvSpPr>
        <p:spPr/>
        <p:txBody>
          <a:bodyPr/>
          <a:lstStyle/>
          <a:p>
            <a:pPr marL="0" lvl="0" indent="0">
              <a:buNone/>
            </a:pPr>
            <a:r>
              <a:rPr b="1" dirty="0"/>
              <a:t>Problem:</a:t>
            </a:r>
            <a:r>
              <a:rPr dirty="0"/>
              <a:t> Not following general assumptions (normality, independence, random selection, no outliers) leads to illegitimate correlations.</a:t>
            </a:r>
          </a:p>
          <a:p>
            <a:pPr lvl="0"/>
            <a:r>
              <a:rPr dirty="0"/>
              <a:t>Generally, arises from outliers inflating the correlation coefficient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4. Spurious (illegitimate) Correlations</a:t>
            </a:r>
          </a:p>
        </p:txBody>
      </p:sp>
      <p:sp>
        <p:nvSpPr>
          <p:cNvPr id="3" name="Content Placeholder 2"/>
          <p:cNvSpPr>
            <a:spLocks noGrp="1"/>
          </p:cNvSpPr>
          <p:nvPr>
            <p:ph idx="1"/>
          </p:nvPr>
        </p:nvSpPr>
        <p:spPr/>
        <p:txBody>
          <a:bodyPr/>
          <a:lstStyle/>
          <a:p>
            <a:pPr marL="0" lvl="0" indent="0">
              <a:buNone/>
            </a:pPr>
            <a:r>
              <a:rPr b="1" dirty="0"/>
              <a:t>Detection:</a:t>
            </a:r>
            <a:r>
              <a:rPr dirty="0"/>
              <a:t> Assess data plots for outliers and see if correlation coefficient makes sense.</a:t>
            </a:r>
          </a:p>
          <a:p>
            <a:pPr marL="0" lvl="0" indent="0">
              <a:buNone/>
            </a:pPr>
            <a:r>
              <a:rPr b="1" dirty="0"/>
              <a:t>Solutions:</a:t>
            </a:r>
            <a:r>
              <a:rPr dirty="0"/>
              <a:t> Make sure you satisfy the assumptions (normality, independence, random selection, no outliers)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5. Use of Small Samples</a:t>
            </a:r>
          </a:p>
        </p:txBody>
      </p:sp>
      <p:sp>
        <p:nvSpPr>
          <p:cNvPr id="3" name="Content Placeholder 2"/>
          <p:cNvSpPr>
            <a:spLocks noGrp="1"/>
          </p:cNvSpPr>
          <p:nvPr>
            <p:ph idx="1"/>
          </p:nvPr>
        </p:nvSpPr>
        <p:spPr/>
        <p:txBody>
          <a:bodyPr/>
          <a:lstStyle/>
          <a:p>
            <a:pPr marL="0" lvl="0" indent="0">
              <a:buNone/>
            </a:pPr>
            <a:r>
              <a:rPr b="1" dirty="0"/>
              <a:t>Problem:</a:t>
            </a:r>
            <a:r>
              <a:rPr dirty="0"/>
              <a:t> Small sample sizes only detects large effects (overestimates actual effect –&gt; leads to large correlation value)</a:t>
            </a:r>
          </a:p>
          <a:p>
            <a:pPr lvl="0"/>
            <a:r>
              <a:rPr dirty="0"/>
              <a:t>Increases the chance of a false positive (Type 1 Error)</a:t>
            </a:r>
          </a:p>
          <a:p>
            <a:pPr lvl="0"/>
            <a:r>
              <a:rPr dirty="0"/>
              <a:t>Small sample sizes are not likely to be normally distributed (cannot use normality assumption)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5. Use of Small Samples</a:t>
            </a:r>
          </a:p>
        </p:txBody>
      </p:sp>
      <p:sp>
        <p:nvSpPr>
          <p:cNvPr id="3" name="Content Placeholder 2"/>
          <p:cNvSpPr>
            <a:spLocks noGrp="1"/>
          </p:cNvSpPr>
          <p:nvPr>
            <p:ph idx="1"/>
          </p:nvPr>
        </p:nvSpPr>
        <p:spPr/>
        <p:txBody>
          <a:bodyPr/>
          <a:lstStyle/>
          <a:p>
            <a:pPr marL="0" lvl="0" indent="0">
              <a:buNone/>
            </a:pPr>
            <a:r>
              <a:rPr b="1" dirty="0"/>
              <a:t>Detection:</a:t>
            </a:r>
            <a:r>
              <a:rPr dirty="0"/>
              <a:t> Examine the sample size and judge if it is appropriate; if there is a large effect, it may be considered suspicious depending on the sample size</a:t>
            </a:r>
          </a:p>
          <a:p>
            <a:pPr marL="0" lvl="0" indent="0">
              <a:buNone/>
            </a:pPr>
            <a:r>
              <a:rPr b="1" dirty="0"/>
              <a:t>Solutions:</a:t>
            </a:r>
            <a:r>
              <a:rPr dirty="0"/>
              <a:t> If possible, perform replications of the experiment so see if the outcome is the same. Also, make sure you have a control.</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6. Circular Analysis</a:t>
            </a:r>
          </a:p>
        </p:txBody>
      </p:sp>
      <p:sp>
        <p:nvSpPr>
          <p:cNvPr id="3" name="Content Placeholder 2"/>
          <p:cNvSpPr>
            <a:spLocks noGrp="1"/>
          </p:cNvSpPr>
          <p:nvPr>
            <p:ph idx="1"/>
          </p:nvPr>
        </p:nvSpPr>
        <p:spPr/>
        <p:txBody>
          <a:bodyPr/>
          <a:lstStyle/>
          <a:p>
            <a:pPr marL="0" lvl="0" indent="0">
              <a:buNone/>
            </a:pPr>
            <a:r>
              <a:rPr b="1" dirty="0"/>
              <a:t>Problem:</a:t>
            </a:r>
            <a:r>
              <a:rPr dirty="0"/>
              <a:t> Researchers analyze data and pick out certain patters that describe their results; they then use that pattern to conduct further research which may lead to an incorrect finding</a:t>
            </a:r>
          </a:p>
          <a:p>
            <a:pPr lvl="0"/>
            <a:r>
              <a:rPr dirty="0"/>
              <a:t>Ex. Neuron firing rate due to manipulation: there were no significant effects initially, but the researchers observed an increased firing rate for some neurons and others less. This led them to split the neurons into a quick and slow response rate group. Any interpretation from this is misleading because maybe the neurons reacted by chance.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6. Circular Analysis</a:t>
            </a:r>
          </a:p>
        </p:txBody>
      </p:sp>
      <p:sp>
        <p:nvSpPr>
          <p:cNvPr id="3" name="Content Placeholder 2"/>
          <p:cNvSpPr>
            <a:spLocks noGrp="1"/>
          </p:cNvSpPr>
          <p:nvPr>
            <p:ph idx="1"/>
          </p:nvPr>
        </p:nvSpPr>
        <p:spPr/>
        <p:txBody>
          <a:bodyPr/>
          <a:lstStyle/>
          <a:p>
            <a:pPr marL="0" lvl="0" indent="0">
              <a:buNone/>
            </a:pPr>
            <a:r>
              <a:rPr b="1" dirty="0"/>
              <a:t>Problem:</a:t>
            </a:r>
            <a:r>
              <a:rPr dirty="0"/>
              <a:t> Dependencies are created between the dependent and independent variable</a:t>
            </a:r>
          </a:p>
          <a:p>
            <a:pPr lvl="0"/>
            <a:r>
              <a:rPr dirty="0"/>
              <a:t>Ex. Correlation reported between cell response post manipulation and the difference in cell response for pre and post manipulation. (notice that both are dependent upon the post manipulation measure, hence any analysis done is inaccurate)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6. Circular Analysis</a:t>
            </a:r>
          </a:p>
        </p:txBody>
      </p:sp>
      <p:sp>
        <p:nvSpPr>
          <p:cNvPr id="3" name="Content Placeholder 2"/>
          <p:cNvSpPr>
            <a:spLocks noGrp="1"/>
          </p:cNvSpPr>
          <p:nvPr>
            <p:ph idx="1"/>
          </p:nvPr>
        </p:nvSpPr>
        <p:spPr/>
        <p:txBody>
          <a:bodyPr/>
          <a:lstStyle/>
          <a:p>
            <a:pPr marL="0" lvl="0" indent="0">
              <a:buNone/>
            </a:pPr>
            <a:r>
              <a:rPr b="1"/>
              <a:t>Detection:</a:t>
            </a:r>
            <a:r>
              <a:t> Decide if the statistical test criteria are in favor of the hypothesis tested.</a:t>
            </a:r>
          </a:p>
          <a:p>
            <a:pPr marL="0" lvl="0" indent="0">
              <a:buNone/>
            </a:pPr>
            <a:r>
              <a:rPr b="1"/>
              <a:t>Solutions:</a:t>
            </a:r>
          </a:p>
          <a:p>
            <a:pPr lvl="0"/>
            <a:r>
              <a:t>Define the analysis criteria independently of the data (i.e. don’t pick the question based on the data)</a:t>
            </a:r>
          </a:p>
          <a:p>
            <a:pPr lvl="0"/>
            <a:r>
              <a:t>Run experiments again to see if same results arise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7. Flexibility of Analysis: P-hacking</a:t>
            </a:r>
          </a:p>
        </p:txBody>
      </p:sp>
      <p:sp>
        <p:nvSpPr>
          <p:cNvPr id="3" name="Content Placeholder 2"/>
          <p:cNvSpPr>
            <a:spLocks noGrp="1"/>
          </p:cNvSpPr>
          <p:nvPr>
            <p:ph idx="1"/>
          </p:nvPr>
        </p:nvSpPr>
        <p:spPr/>
        <p:txBody>
          <a:bodyPr/>
          <a:lstStyle/>
          <a:p>
            <a:pPr marL="0" lvl="0" indent="0">
              <a:buNone/>
            </a:pPr>
            <a:r>
              <a:rPr b="1"/>
              <a:t>Flexibility Definition:</a:t>
            </a:r>
            <a:r>
              <a:t> use of switched outcome parameters, adding covariates, using undetermined/erratic pre-processing pipeline/subject exclusion</a:t>
            </a:r>
          </a:p>
          <a:p>
            <a:pPr marL="0" lvl="0" indent="0">
              <a:buNone/>
            </a:pPr>
            <a:r>
              <a:rPr b="1"/>
              <a:t>Problem:</a:t>
            </a:r>
            <a:r>
              <a:t> When using flexibility, it increases the probability of getting a significant p-value.</a:t>
            </a:r>
          </a:p>
          <a:p>
            <a:pPr lvl="0"/>
            <a:r>
              <a:rPr b="1"/>
              <a:t>Why?</a:t>
            </a:r>
            <a:r>
              <a:t> Normative statistics relies on probabilities and when you run more then one test, there is an increased probability of getting a false positive (8 Makin and Orban)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7. Flexibility of Analysis: P-hacking</a:t>
            </a:r>
          </a:p>
        </p:txBody>
      </p:sp>
      <p:sp>
        <p:nvSpPr>
          <p:cNvPr id="3" name="Content Placeholder 2"/>
          <p:cNvSpPr>
            <a:spLocks noGrp="1"/>
          </p:cNvSpPr>
          <p:nvPr>
            <p:ph idx="1"/>
          </p:nvPr>
        </p:nvSpPr>
        <p:spPr/>
        <p:txBody>
          <a:bodyPr/>
          <a:lstStyle/>
          <a:p>
            <a:pPr marL="0" lvl="0" indent="0">
              <a:buNone/>
            </a:pPr>
            <a:r>
              <a:rPr b="1"/>
              <a:t>Detection:</a:t>
            </a:r>
            <a:r>
              <a:t> Make sure planned and executed trials were identical. This can be very hard to detect.</a:t>
            </a:r>
          </a:p>
          <a:p>
            <a:pPr marL="0" lvl="0" indent="0">
              <a:buNone/>
            </a:pPr>
            <a:r>
              <a:rPr b="1"/>
              <a:t>Solutions:</a:t>
            </a:r>
          </a:p>
          <a:p>
            <a:pPr lvl="0"/>
            <a:r>
              <a:t>Replicate the experiment to make sure results are similar.</a:t>
            </a:r>
          </a:p>
          <a:p>
            <a:pPr lvl="0"/>
            <a:r>
              <a:t>Check to make sure the experiment was well designed, executed, and analyzed.</a:t>
            </a:r>
          </a:p>
          <a:p>
            <a:pPr lvl="0"/>
            <a:r>
              <a:t>Be clear when you state pre-planned analysis vs the exploratory analysis since exploratory analysis cannot have strong conclusions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8. Failing to Correct for Multiple Comparisons</a:t>
            </a:r>
          </a:p>
        </p:txBody>
      </p:sp>
      <p:sp>
        <p:nvSpPr>
          <p:cNvPr id="3" name="Content Placeholder 2"/>
          <p:cNvSpPr>
            <a:spLocks noGrp="1"/>
          </p:cNvSpPr>
          <p:nvPr>
            <p:ph idx="1"/>
          </p:nvPr>
        </p:nvSpPr>
        <p:spPr/>
        <p:txBody>
          <a:bodyPr/>
          <a:lstStyle/>
          <a:p>
            <a:pPr marL="0" lvl="0" indent="0">
              <a:buNone/>
            </a:pPr>
            <a:r>
              <a:rPr b="1"/>
              <a:t>Problem:</a:t>
            </a:r>
            <a:r>
              <a:t> When researchers have multiple comparisons, there can be consequences for significant findings (type 1 errors)</a:t>
            </a:r>
          </a:p>
          <a:p>
            <a:pPr lvl="0"/>
            <a:r>
              <a:t>More factors-&gt; greater number of tests/measures performed-&gt; increasing probability of false positives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8. Failing to Correct for Multiple Comparisons</a:t>
            </a:r>
          </a:p>
        </p:txBody>
      </p:sp>
      <p:sp>
        <p:nvSpPr>
          <p:cNvPr id="3" name="Content Placeholder 2"/>
          <p:cNvSpPr>
            <a:spLocks noGrp="1"/>
          </p:cNvSpPr>
          <p:nvPr>
            <p:ph idx="1"/>
          </p:nvPr>
        </p:nvSpPr>
        <p:spPr/>
        <p:txBody>
          <a:bodyPr/>
          <a:lstStyle/>
          <a:p>
            <a:pPr marL="0" lvl="0" indent="0">
              <a:buNone/>
            </a:pPr>
            <a:r>
              <a:rPr b="1" dirty="0"/>
              <a:t>Detection:</a:t>
            </a:r>
            <a:r>
              <a:rPr dirty="0"/>
              <a:t> Look at the number of variables being tested and if only one of the variables are correlated with the dependent variable, the rest are likely to have been included to increase the chance of obtaining a significant result. Hence, we should not be conducting exploratory analysis on large sets of variables</a:t>
            </a:r>
          </a:p>
          <a:p>
            <a:pPr marL="0" lvl="0" indent="0">
              <a:buNone/>
            </a:pPr>
            <a:r>
              <a:rPr b="1" dirty="0"/>
              <a:t>Solution:</a:t>
            </a:r>
            <a:r>
              <a:rPr dirty="0"/>
              <a:t> State multiple comparison procedures and variables and see if significant results seem plausible with number of variables.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9. Over-Interpreting Non-signifi</a:t>
            </a:r>
            <a:r>
              <a:rPr lang="en-US" dirty="0"/>
              <a:t>c</a:t>
            </a:r>
            <a:r>
              <a:rPr dirty="0"/>
              <a:t>ant Results</a:t>
            </a:r>
          </a:p>
        </p:txBody>
      </p:sp>
      <p:sp>
        <p:nvSpPr>
          <p:cNvPr id="3" name="Content Placeholder 2"/>
          <p:cNvSpPr>
            <a:spLocks noGrp="1"/>
          </p:cNvSpPr>
          <p:nvPr>
            <p:ph idx="1"/>
          </p:nvPr>
        </p:nvSpPr>
        <p:spPr/>
        <p:txBody>
          <a:bodyPr/>
          <a:lstStyle/>
          <a:p>
            <a:pPr marL="0" lvl="0" indent="0">
              <a:buNone/>
            </a:pPr>
            <a:r>
              <a:rPr b="1" dirty="0"/>
              <a:t>Problem:</a:t>
            </a:r>
            <a:r>
              <a:rPr dirty="0"/>
              <a:t> A non-significant p-value does not distinguish between a lack of effect due to objects absence or if there was an inappropriate experimental design. Hence, the p-value is insufficient evidence for no experimental result.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9. Over-Interpreting Non-signifi</a:t>
            </a:r>
            <a:r>
              <a:rPr lang="en-US" dirty="0"/>
              <a:t>c</a:t>
            </a:r>
            <a:r>
              <a:rPr dirty="0"/>
              <a:t>ant Results</a:t>
            </a:r>
          </a:p>
        </p:txBody>
      </p:sp>
      <p:sp>
        <p:nvSpPr>
          <p:cNvPr id="3" name="Content Placeholder 2"/>
          <p:cNvSpPr>
            <a:spLocks noGrp="1"/>
          </p:cNvSpPr>
          <p:nvPr>
            <p:ph idx="1"/>
          </p:nvPr>
        </p:nvSpPr>
        <p:spPr/>
        <p:txBody>
          <a:bodyPr/>
          <a:lstStyle/>
          <a:p>
            <a:pPr marL="0" lvl="0" indent="0">
              <a:buNone/>
            </a:pPr>
            <a:r>
              <a:rPr b="1" dirty="0"/>
              <a:t>Detection:</a:t>
            </a:r>
            <a:r>
              <a:rPr dirty="0"/>
              <a:t> If a researcher states that </a:t>
            </a:r>
            <a:r>
              <a:t>a non-signifi</a:t>
            </a:r>
            <a:r>
              <a:rPr lang="en-US"/>
              <a:t>c</a:t>
            </a:r>
            <a:r>
              <a:t>ant </a:t>
            </a:r>
            <a:r>
              <a:rPr dirty="0"/>
              <a:t>p-value indicates no effect was present</a:t>
            </a:r>
          </a:p>
          <a:p>
            <a:pPr marL="0" lvl="0" indent="0">
              <a:buNone/>
            </a:pPr>
            <a:r>
              <a:rPr b="1" dirty="0"/>
              <a:t>Solution:</a:t>
            </a:r>
          </a:p>
          <a:p>
            <a:pPr lvl="0"/>
            <a:r>
              <a:rPr dirty="0"/>
              <a:t>Do not interpret non-significant results, only describe them as non-significant</a:t>
            </a:r>
          </a:p>
          <a:p>
            <a:pPr lvl="0"/>
            <a:r>
              <a:rPr dirty="0"/>
              <a:t>Make sure to report magnitude of effect with the p-values and identify if </a:t>
            </a:r>
            <a:r>
              <a:rPr dirty="0" err="1"/>
              <a:t>approporiate</a:t>
            </a:r>
            <a:r>
              <a:rPr dirty="0"/>
              <a:t> experimental designs were used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10. Correlation and Causation</a:t>
            </a:r>
          </a:p>
        </p:txBody>
      </p:sp>
      <p:sp>
        <p:nvSpPr>
          <p:cNvPr id="3" name="Content Placeholder 2"/>
          <p:cNvSpPr>
            <a:spLocks noGrp="1"/>
          </p:cNvSpPr>
          <p:nvPr>
            <p:ph idx="1"/>
          </p:nvPr>
        </p:nvSpPr>
        <p:spPr/>
        <p:txBody>
          <a:bodyPr/>
          <a:lstStyle/>
          <a:p>
            <a:pPr marL="0" lvl="0" indent="0">
              <a:buNone/>
            </a:pPr>
            <a:r>
              <a:rPr b="1"/>
              <a:t>Problem:</a:t>
            </a:r>
            <a:r>
              <a:t> A correlation of 2 variables does not mean that one causes the other. Correlation cannot be used as evidence for cause and effect.</a:t>
            </a:r>
          </a:p>
          <a:p>
            <a:pPr lvl="0"/>
            <a:r>
              <a:t>Ex. Monthly ice cream sales and shark attacks (correlated but not causation)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10. Correlation and Causation</a:t>
            </a:r>
          </a:p>
        </p:txBody>
      </p:sp>
      <p:sp>
        <p:nvSpPr>
          <p:cNvPr id="3" name="Content Placeholder 2"/>
          <p:cNvSpPr>
            <a:spLocks noGrp="1"/>
          </p:cNvSpPr>
          <p:nvPr>
            <p:ph idx="1"/>
          </p:nvPr>
        </p:nvSpPr>
        <p:spPr/>
        <p:txBody>
          <a:bodyPr/>
          <a:lstStyle/>
          <a:p>
            <a:pPr marL="0" lvl="0" indent="0">
              <a:buNone/>
            </a:pPr>
            <a:r>
              <a:rPr b="1"/>
              <a:t>Detection:</a:t>
            </a:r>
            <a:r>
              <a:t> If a researcher reports an association that is not a direct cause of manipulation</a:t>
            </a:r>
          </a:p>
          <a:p>
            <a:pPr marL="0" lvl="0" indent="0">
              <a:buNone/>
            </a:pPr>
            <a:r>
              <a:rPr b="1"/>
              <a:t>Solutions:</a:t>
            </a:r>
            <a:r>
              <a:t> Explore relationships with a third variable to prove causation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Conclusion</a:t>
            </a:r>
          </a:p>
        </p:txBody>
      </p:sp>
      <p:sp>
        <p:nvSpPr>
          <p:cNvPr id="3" name="Content Placeholder 2"/>
          <p:cNvSpPr>
            <a:spLocks noGrp="1"/>
          </p:cNvSpPr>
          <p:nvPr>
            <p:ph idx="1"/>
          </p:nvPr>
        </p:nvSpPr>
        <p:spPr/>
        <p:txBody>
          <a:bodyPr/>
          <a:lstStyle/>
          <a:p>
            <a:pPr marL="0" lvl="0" indent="0">
              <a:buNone/>
            </a:pPr>
            <a:r>
              <a:t>One statistical mistake can snowball into other mistakes which will undermine the integrity of your research. It is our job as statisticians to look out for these errors and identify them to improve analyses. This way we can ensure our findings (and our peers findings) are accurate and meaningful.</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References</a:t>
            </a:r>
          </a:p>
        </p:txBody>
      </p:sp>
      <p:sp>
        <p:nvSpPr>
          <p:cNvPr id="3" name="Content Placeholder 2"/>
          <p:cNvSpPr>
            <a:spLocks noGrp="1"/>
          </p:cNvSpPr>
          <p:nvPr>
            <p:ph idx="1"/>
          </p:nvPr>
        </p:nvSpPr>
        <p:spPr/>
        <p:txBody>
          <a:bodyPr/>
          <a:lstStyle/>
          <a:p>
            <a:pPr marL="0" lvl="0" indent="0">
              <a:buNone/>
            </a:pPr>
            <a:r>
              <a:t>Makin, T. R., &amp; Orban de Xivry, J. J. (2019). Ten common statistical mistakes to watch out for when writing or reviewing a manuscript. eLife, 8, e48175. </a:t>
            </a:r>
            <a:r>
              <a:rPr>
                <a:hlinkClick r:id="rId2"/>
              </a:rPr>
              <a:t>https://doi.org/10.7554/eLife.48175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1615</Words>
  <Application>Microsoft Office PowerPoint</Application>
  <PresentationFormat>On-screen Show (16:9)</PresentationFormat>
  <Paragraphs>94</Paragraphs>
  <Slides>27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Ten common statistical mistakes to watch out for when writing or reviewing a manuscript</vt:lpstr>
      <vt:lpstr>Abstract</vt:lpstr>
      <vt:lpstr>About the Authors</vt:lpstr>
      <vt:lpstr>1. Absence of an Adequate Control Condition/Group</vt:lpstr>
      <vt:lpstr>1. Absence of an Adequate Control Condition/Group</vt:lpstr>
      <vt:lpstr>2. Interpreting comparisons between two effects without directly comparing them</vt:lpstr>
      <vt:lpstr>2. Interpreting comparisons between two effects without directly comparing them</vt:lpstr>
      <vt:lpstr>3. Inflating the units of analysis</vt:lpstr>
      <vt:lpstr>3. Inflating the units of analysis</vt:lpstr>
      <vt:lpstr>3. Inflating the units of Analysis</vt:lpstr>
      <vt:lpstr>4. Spurious (illegitimate) Correlations</vt:lpstr>
      <vt:lpstr>4. Spurious (illegitimate) Correlations</vt:lpstr>
      <vt:lpstr>5. Use of Small Samples</vt:lpstr>
      <vt:lpstr>5. Use of Small Samples</vt:lpstr>
      <vt:lpstr>6. Circular Analysis</vt:lpstr>
      <vt:lpstr>6. Circular Analysis</vt:lpstr>
      <vt:lpstr>6. Circular Analysis</vt:lpstr>
      <vt:lpstr>7. Flexibility of Analysis: P-hacking</vt:lpstr>
      <vt:lpstr>7. Flexibility of Analysis: P-hacking</vt:lpstr>
      <vt:lpstr>8. Failing to Correct for Multiple Comparisons</vt:lpstr>
      <vt:lpstr>8. Failing to Correct for Multiple Comparisons</vt:lpstr>
      <vt:lpstr>9. Over-Interpreting Non-significant Results</vt:lpstr>
      <vt:lpstr>9. Over-Interpreting Non-significant Results</vt:lpstr>
      <vt:lpstr>10. Correlation and Causation</vt:lpstr>
      <vt:lpstr>10. Correlation and Causation</vt:lpstr>
      <vt:lpstr>Conclusion</vt:lpstr>
      <vt:lpstr>References</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Ten common statistical mistakes to watch out for when writing or reviewing a manuscript</dc:title>
  <dc:creator>Authors: Tamar R Makin and Jean-Jaques Orban De Xivry</dc:creator>
  <cp:keywords/>
  <cp:lastModifiedBy>Pesak, Sarah</cp:lastModifiedBy>
  <cp:revision>1</cp:revision>
  <dcterms:created xsi:type="dcterms:W3CDTF">2024-10-21T19:47:53Z</dcterms:created>
  <dcterms:modified xsi:type="dcterms:W3CDTF">2024-10-28T01:11:30Z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2024-10-07</vt:lpwstr>
  </property>
  <property fmtid="{D5CDD505-2E9C-101B-9397-08002B2CF9AE}" pid="3" name="editor_options">
    <vt:lpwstr/>
  </property>
  <property fmtid="{D5CDD505-2E9C-101B-9397-08002B2CF9AE}" pid="4" name="output">
    <vt:lpwstr/>
  </property>
</Properties>
</file>